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Arial"/>
              </a:rPr>
              <a:t>Pelanggan unik per kota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Pelanggan unik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Makassar</c:v>
                  </c:pt>
                  <c:pt idx="1">
                    <c:v>Jakarta</c:v>
                  </c:pt>
                  <c:pt idx="2">
                    <c:v>Bandung</c:v>
                  </c:pt>
                  <c:pt idx="3">
                    <c:v>Surabaya</c:v>
                  </c:pt>
                  <c:pt idx="4">
                    <c:v>Medan</c:v>
                  </c:pt>
                  <c:pt idx="5">
                    <c:v>Papua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89</c:v>
                </c:pt>
                <c:pt idx="2">
                  <c:v>82</c:v>
                </c:pt>
                <c:pt idx="3">
                  <c:v>78</c:v>
                </c:pt>
                <c:pt idx="4">
                  <c:v>78</c:v>
                </c:pt>
                <c:pt idx="5">
                  <c:v>77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Arial"/>
              </a:rPr>
              <a:t>Rata-rata belanja per transaksi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belanja (Rp juta)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Non-anggota</c:v>
                  </c:pt>
                  <c:pt idx="1">
                    <c:v>Anggota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4.38</c:v>
                </c:pt>
                <c:pt idx="1">
                  <c:v>4.1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Arial"/>
              </a:rPr>
              <a:t>Belanja per niat membeli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Niat membeli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Planned</c:v>
                  </c:pt>
                  <c:pt idx="1">
                    <c:v>Need-based</c:v>
                  </c:pt>
                  <c:pt idx="2">
                    <c:v>Wants-based</c:v>
                  </c:pt>
                  <c:pt idx="3">
                    <c:v>Impulsive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4.34</c:v>
                </c:pt>
                <c:pt idx="1">
                  <c:v>4.3</c:v>
                </c:pt>
                <c:pt idx="2">
                  <c:v>4.17</c:v>
                </c:pt>
                <c:pt idx="3">
                  <c:v>4.14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Arial"/>
              </a:rPr>
              <a:t>Belanja per channel (Rp juta)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Mixed</c:v>
                  </c:pt>
                  <c:pt idx="1">
                    <c:v>In-Store</c:v>
                  </c:pt>
                  <c:pt idx="2">
                    <c:v>Online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4.46</c:v>
                </c:pt>
                <c:pt idx="1">
                  <c:v>4.14</c:v>
                </c:pt>
                <c:pt idx="2">
                  <c:v>4.1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2"/>
                </a:solidFill>
                <a:latin typeface="Arial"/>
              </a:rPr>
              <a:t>Skor Brand Loyalty pada 10 pelanggan teratas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Pelanggan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Loyalty 1</c:v>
                  </c:pt>
                  <c:pt idx="1">
                    <c:v>Loyalty 3</c:v>
                  </c:pt>
                  <c:pt idx="2">
                    <c:v>Loyalty 4</c:v>
                  </c:pt>
                  <c:pt idx="3">
                    <c:v>Loyalty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DD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Perilaku dan Loyalitas Pelanggan SuryaHub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Harisenin Data Analyst Bootcamp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Fahrudin  |  SQL, Google BigQuery, Looker Studio,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belanja pelanggan relatif seragam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(499 pelanggan unik)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42032" y="11430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2,12 miliar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nilai belanja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26864" y="11430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4,24 juta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per transaksi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11696" y="11430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53,0%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perempuan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perbedaan signifikan antara anggota dan non-anggota, antar niat membeli, antar channel, maupun antar gender.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loyalitas belum terbukti mendorong belanja.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dari 10 pelanggan teratas memiliki Brand Loyalty terendah.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sebaiknya diuji lewat eksperimen, bukan disusun dari selisih kecil.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tersebar merata di enam kota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antarkota kecil: 77 sampai 95 pelanggan.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Perempuan 265 transaksi (53,0%), laki-laki 235 (47,0%).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Makassar dan Jakarta cocok sebagai lokasi pilot karena basisnya terbesar.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loyalitas belum mendorong belanja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Non-anggota: Rp 4,38 juta dan 6,99 kali. Anggota: Rp 4,10 juta dan 6,68 kali.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tidak signifikan (belanja p = 0,14; frekuensi p = 0,26).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Diskon seimbang: 250 dengan diskon, 250 tanpa diskon.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Loyalty tidak berhubungan dengan belanja (korelasi 0,015).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Niat membeli dan channel: selisih kecil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tertinggi dan Impulsive terendah, tetapi tidak signifikan (p = 0,84). Mixed tertinggi dalam belanja dan In-Store dalam frekuensi, juga tidak signifikan (p = 0,20 dan 0,22).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bernilai tinggi belum tentu loyal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801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dari 10 top spender (termasuk peringkat 1 dan 2) memiliki Brand Loyalty 1.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belanja 10 teratas berkisar Rp 7,60 sampai 7,72 juta.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Mereka berisiko berpindah ke kompetitor.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 uji lewat eksperimen 4 minggu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33832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Minggu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Eksperimen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hipotesis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Restrukturisasi loyalitas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Manfaat non-diskon untuk sebagian anggota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 registrasi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Pembeli impulsif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sale pada sampel acak vs kontrol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 conversion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Dorongan geografis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 ongkir Makassar, pengiriman cepat Jakarta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 repeat order Makassar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dan channel 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Bundling mingguan dan ambil di toko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 nilai belanja Planned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adalah hipotesis, bukan hasil dari data historis. Layanan khusus untuk top spender berloyalitas rendah dan uji loyalty cashback melengkapi roadmap ini.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Keterbatasan: data tidak memuat waktu transaksi, pembelian berulang, atau biaya promosi.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Perilaku dan Loyalitas Pelanggan SuryaHub</dc:title>
  <dc:subject>PptxGenJS Presentation</dc:subject>
  <dc:creator>Muhamad Fahrudin</dc:creator>
  <cp:lastModifiedBy>Muhamad Fahrudin</cp:lastModifiedBy>
  <cp:revision>1</cp:revision>
  <dcterms:created xsi:type="dcterms:W3CDTF">2026-10-03T11:10:09Z</dcterms:created>
  <dcterms:modified xsi:type="dcterms:W3CDTF">2026-10-03T11:10:09Z</dcterms:modified>
</cp:coreProperties>
</file>